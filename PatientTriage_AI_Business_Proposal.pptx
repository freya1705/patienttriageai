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PATIENTTRIAGE.AI</a:t>
            </a:r>
          </a:p>
          <a:p>
            <a:pPr>
              <a:spcBef>
                <a:spcPts val="1000"/>
              </a:spcBef>
              <a:defRPr sz="2400" b="1">
                <a:solidFill>
                  <a:srgbClr val="0284C7"/>
                </a:solidFill>
              </a:defRPr>
            </a:pPr>
            <a:r>
              <a:t>“Triage is a snapshot. Risk isn't.”</a:t>
            </a:r>
          </a:p>
          <a:p>
            <a:pPr>
              <a:spcBef>
                <a:spcPts val="600"/>
              </a:spcBef>
              <a:defRPr sz="1600">
                <a:solidFill>
                  <a:srgbClr val="94A3B8"/>
                </a:solidFill>
              </a:defRPr>
            </a:pPr>
            <a:r>
              <a:t>The Active Autonomous Emergency Department Safety Control Tower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389120"/>
            <a:ext cx="246888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48056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94A3B8"/>
                </a:solidFill>
              </a:defRPr>
            </a:pPr>
            <a:r>
              <a:t>CORE INNOVATION</a:t>
            </a:r>
          </a:p>
          <a:p>
            <a:pPr>
              <a:spcBef>
                <a:spcPts val="400"/>
              </a:spcBef>
              <a:defRPr sz="1400" b="1">
                <a:solidFill>
                  <a:srgbClr val="0284C7"/>
                </a:solidFill>
              </a:defRPr>
            </a:pPr>
            <a:r>
              <a:t>Dynamic Risk Velocity</a:t>
            </a:r>
          </a:p>
          <a:p>
            <a:pPr>
              <a:spcBef>
                <a:spcPts val="300"/>
              </a:spcBef>
              <a:defRPr sz="900">
                <a:solidFill>
                  <a:srgbClr val="94A3B8"/>
                </a:solidFill>
              </a:defRPr>
            </a:pPr>
            <a:r>
              <a:t>Vital shift tracking vs static snapshot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4389120"/>
            <a:ext cx="246888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448056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94A3B8"/>
                </a:solidFill>
              </a:defRPr>
            </a:pPr>
            <a:r>
              <a:t>PHILOSOPHY</a:t>
            </a:r>
          </a:p>
          <a:p>
            <a:pPr>
              <a:spcBef>
                <a:spcPts val="400"/>
              </a:spcBef>
              <a:defRPr sz="1400" b="1">
                <a:solidFill>
                  <a:srgbClr val="E11D48"/>
                </a:solidFill>
              </a:defRPr>
            </a:pPr>
            <a:r>
              <a:t>Unknown ≠ Safe</a:t>
            </a:r>
          </a:p>
          <a:p>
            <a:pPr>
              <a:spcBef>
                <a:spcPts val="300"/>
              </a:spcBef>
              <a:defRPr sz="900">
                <a:solidFill>
                  <a:srgbClr val="94A3B8"/>
                </a:solidFill>
              </a:defRPr>
            </a:pPr>
            <a:r>
              <a:t>Missing data penalizes confidence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4389120"/>
            <a:ext cx="246888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448056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94A3B8"/>
                </a:solidFill>
              </a:defRPr>
            </a:pPr>
            <a:r>
              <a:t>ANNUAL NET VALUE</a:t>
            </a:r>
          </a:p>
          <a:p>
            <a:pPr>
              <a:spcBef>
                <a:spcPts val="400"/>
              </a:spcBef>
              <a:defRPr sz="1400" b="1">
                <a:solidFill>
                  <a:srgbClr val="10B981"/>
                </a:solidFill>
              </a:defRPr>
            </a:pPr>
            <a:r>
              <a:t>$3.82M / Hospital</a:t>
            </a:r>
          </a:p>
          <a:p>
            <a:pPr>
              <a:spcBef>
                <a:spcPts val="300"/>
              </a:spcBef>
              <a:defRPr sz="900">
                <a:solidFill>
                  <a:srgbClr val="94A3B8"/>
                </a:solidFill>
              </a:defRPr>
            </a:pPr>
            <a:r>
              <a:t>64% Avoided ICU Transfers + LWBS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4389120"/>
            <a:ext cx="246888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448056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94A3B8"/>
                </a:solidFill>
              </a:defRPr>
            </a:pPr>
            <a:r>
              <a:t>AUTHOR &amp; TRACK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Freya Jadhav (freya1705)</a:t>
            </a:r>
          </a:p>
          <a:p>
            <a:pPr>
              <a:spcBef>
                <a:spcPts val="300"/>
              </a:spcBef>
              <a:defRPr sz="900">
                <a:solidFill>
                  <a:srgbClr val="94A3B8"/>
                </a:solidFill>
              </a:defRPr>
            </a:pPr>
            <a:r>
              <a:t>Round 2 Technical Prototype &amp; Proposal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ACCENTURE INNOVATION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Crisis: The Blind Spot in Emergency Waiting Rooms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5780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11D48"/>
                </a:solidFill>
              </a:defRPr>
            </a:pPr>
            <a:r>
              <a:t>1. Silent Decompensation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140M annual visits face 3–6 hr wait times. ESI 3/4 patients worsen unmonitored; physiological decline may remain undetected until sudden collapse.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554480"/>
            <a:ext cx="525780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2. The 'Missing Data Is Safe' Myth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Traditional triage algorithms treat missing vitals as benign. Under 'Unknown is NOT Safe', incomplete data heightens vigilance instead of offering false reassurance.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5780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284C7"/>
                </a:solidFill>
              </a:defRPr>
            </a:pPr>
            <a:r>
              <a:t>3. The Attention Bottleneck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Attended critical patients anchor doctors and block queues, while deteriorating unmonitored patients stay hidden at the bottom of the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931920"/>
            <a:ext cx="525780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11480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4. Legacy EHR Blind Spot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Epic EDI &amp; Cerner MEWS only score admitted inpatient beds. PatientTriage.ai is purpose-built for waiting rooms and clinician coverage gaps.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ACCENTURE INNOVATION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System Architecture: 3-Tier Layered Safety &amp; The Attention Gap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4747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TIER 1: DETERMINISTIC GUARDRAILS</a:t>
            </a:r>
          </a:p>
          <a:p>
            <a:pPr>
              <a:spcBef>
                <a:spcPts val="1000"/>
              </a:spcBef>
              <a:defRPr sz="1050">
                <a:solidFill>
                  <a:srgbClr val="FFFFFF"/>
                </a:solidFill>
              </a:defRPr>
            </a:pPr>
            <a:r>
              <a:t>• Hard clinical red-flags (SpO₂ &lt; 85%, SBP &lt; 75 mmHg, Stroke FAST, stridor)</a:t>
            </a:r>
            <a:br/>
            <a:r>
              <a:t>• 100% Downgrade Guardrails (prevent unsafe score lowering without evidence)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554480"/>
            <a:ext cx="34747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3736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TIER 2: AI TRAJECTORY &amp; ATTENTION GAP</a:t>
            </a:r>
          </a:p>
          <a:p>
            <a:pPr>
              <a:spcBef>
                <a:spcPts val="1000"/>
              </a:spcBef>
              <a:defRPr sz="1050">
                <a:solidFill>
                  <a:srgbClr val="FFFFFF"/>
                </a:solidFill>
              </a:defRPr>
            </a:pPr>
            <a:r>
              <a:t>• Priority = Base Risk + Vital Velocity (ΔV) + Evidence Staleness (τ) + Uncertainty (Unknown≠Safe) - Physician Coverage (wc)</a:t>
            </a:r>
            <a:br/>
            <a:r>
              <a:t>• 108 EMS Pre-Arrival Ingestion via HL7 FHIR LOINC</a:t>
            </a:r>
            <a:br/>
            <a:r>
              <a:t>• Referral Eligibility Scoring (RES 0–100%)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554480"/>
            <a:ext cx="34747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73736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TIER 3: MULTI-SURFACE DISPATCH &amp; GOVERNANCE</a:t>
            </a:r>
          </a:p>
          <a:p>
            <a:pPr>
              <a:spcBef>
                <a:spcPts val="1000"/>
              </a:spcBef>
              <a:defRPr sz="1050">
                <a:solidFill>
                  <a:srgbClr val="FFFFFF"/>
                </a:solidFill>
              </a:defRPr>
            </a:pPr>
            <a:r>
              <a:t>• 4 Clinical Workspaces: Overview, Nurse Tasks, Floor Map, Lab Orders</a:t>
            </a:r>
            <a:br/>
            <a:r>
              <a:t>• Unified slide-over Patient Drawer with human-readable 'Why?'</a:t>
            </a:r>
            <a:br/>
            <a:r>
              <a:t>• 100% Clinician override authority + Immutable append-only audit trail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ACCENTURE INNOVATION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Clinical Cockpit: 4 Switchable Workspaces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5780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284C7"/>
                </a:solidFill>
              </a:defRPr>
            </a:pPr>
            <a:r>
              <a:t>🧭 1. Overview (Control Tower)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Dynamic Priority Stream continuously re-ranking patients by unmet clinical need + Searchable census + Live audit feed.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554480"/>
            <a:ext cx="525780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11D48"/>
                </a:solidFill>
              </a:defRPr>
            </a:pPr>
            <a:r>
              <a:t>🩺 2. Nurse Tasks ('Next 5 Mins')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Time-budgeted micro-tasks (90s, 60s, 45s, 30s) converting abstract scores into direct bedside clinical actions + 'Attendant Away' spot-checks.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5780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🗺️ 3. ED Floor Pressure Map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Real-time spatial visualization of Waiting Lounge Chairs 1–20 (pulsing halos 🟢/🟡/🟠/🔴) vs Treatment Bays + Unaccompanied patient alerts.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931920"/>
            <a:ext cx="525780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11480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🧪 4. Standing Lab Pre-Orders Hub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Auto-drafts Troponin+ECG and Lactate orders before MD assignment with 1-click approval, cutting diagnostic turnaround time by 18 minutes.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ACCENTURE INNOVATION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Patient Transparency Companion: Reducing Anxiety &amp; LWBS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5780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284C7"/>
                </a:solidFill>
              </a:defRPr>
            </a:pPr>
            <a:r>
              <a:t>📱 Zero-App Install (QR Code / SMS)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Waiting patients scan a QR code printed on their triage wristband to access a live, mobile-friendly care journey tracker with zero app downloads.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554480"/>
            <a:ext cx="525780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🤝 Behavioral De-Escalation ('Why Queue Moves')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Directly answers: 'Why did someone who arrived after me get called in first?' — explaining clinical triage acuity without exposing private PHI.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5780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⏱️ Next Nurse Re-Check Countdown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Displays a reassuring countdown timer for the next scheduled vital check, eliminating waiting room uncertainty and panic.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931920"/>
            <a:ext cx="5257800" cy="2148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11480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11D48"/>
                </a:solidFill>
              </a:defRPr>
            </a:pPr>
            <a:r>
              <a:t>💰 $1.12M LWBS Revenue Recovery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By keeping waiting patients informed and engaged, reduces Left-Without-Being-Seen (LWBS) walkout rates from 4.8% to &lt;2.9%.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ACCENTURE INNOVATION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Quantified Hospital Business Case &amp; ROI ($3.82M Net Annual Value)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057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783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1. AVOIDED ICU TRANSFERS</a:t>
            </a:r>
          </a:p>
          <a:p>
            <a:pPr>
              <a:spcBef>
                <a:spcPts val="800"/>
              </a:spcBef>
              <a:defRPr sz="2000" b="1">
                <a:solidFill>
                  <a:srgbClr val="10B981"/>
                </a:solidFill>
              </a:defRPr>
            </a:pPr>
            <a:r>
              <a:t>+$1.39M</a:t>
            </a:r>
          </a:p>
          <a:p>
            <a:pPr>
              <a:spcBef>
                <a:spcPts val="800"/>
              </a:spcBef>
              <a:defRPr sz="1000">
                <a:solidFill>
                  <a:srgbClr val="FFFFFF"/>
                </a:solidFill>
              </a:defRPr>
            </a:pPr>
            <a:r>
              <a:t>64% reduction in waiting room crashes (93 avoided ICU stays @ $15k).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1" y="1554480"/>
            <a:ext cx="2057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44951" y="1737360"/>
            <a:ext cx="1783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2. LWBS REVENUE RECOVERY</a:t>
            </a:r>
          </a:p>
          <a:p>
            <a:pPr>
              <a:spcBef>
                <a:spcPts val="800"/>
              </a:spcBef>
              <a:defRPr sz="2000" b="1">
                <a:solidFill>
                  <a:srgbClr val="0284C7"/>
                </a:solidFill>
              </a:defRPr>
            </a:pPr>
            <a:r>
              <a:t>+$1.12M</a:t>
            </a:r>
          </a:p>
          <a:p>
            <a:pPr>
              <a:spcBef>
                <a:spcPts val="800"/>
              </a:spcBef>
              <a:defRPr sz="1000">
                <a:solidFill>
                  <a:srgbClr val="FFFFFF"/>
                </a:solidFill>
              </a:defRPr>
            </a:pPr>
            <a:r>
              <a:t>30% reduction in walkouts via Patient Companion (936 patients retained).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1554480"/>
            <a:ext cx="2057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1224" y="1737360"/>
            <a:ext cx="1783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3. DIAGNOSTIC PRE-ORDERS</a:t>
            </a:r>
          </a:p>
          <a:p>
            <a:pPr>
              <a:spcBef>
                <a:spcPts val="800"/>
              </a:spcBef>
              <a:defRPr sz="2000" b="1">
                <a:solidFill>
                  <a:srgbClr val="F59E0B"/>
                </a:solidFill>
              </a:defRPr>
            </a:pPr>
            <a:r>
              <a:t>+$830k</a:t>
            </a:r>
          </a:p>
          <a:p>
            <a:pPr>
              <a:spcBef>
                <a:spcPts val="800"/>
              </a:spcBef>
              <a:defRPr sz="1000">
                <a:solidFill>
                  <a:srgbClr val="FFFFFF"/>
                </a:solidFill>
              </a:defRPr>
            </a:pPr>
            <a:r>
              <a:t>18-min LOS reduction enables capacity for 660 additional admissions.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554480"/>
            <a:ext cx="2057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97496" y="1737360"/>
            <a:ext cx="1783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4. MALPRACTICE MITIGATION</a:t>
            </a:r>
          </a:p>
          <a:p>
            <a:pPr>
              <a:spcBef>
                <a:spcPts val="800"/>
              </a:spcBef>
              <a:defRPr sz="2000" b="1">
                <a:solidFill>
                  <a:srgbClr val="E11D48"/>
                </a:solidFill>
              </a:defRPr>
            </a:pPr>
            <a:r>
              <a:t>+$480k</a:t>
            </a:r>
          </a:p>
          <a:p>
            <a:pPr>
              <a:spcBef>
                <a:spcPts val="800"/>
              </a:spcBef>
              <a:defRPr sz="1000">
                <a:solidFill>
                  <a:srgbClr val="FFFFFF"/>
                </a:solidFill>
              </a:defRPr>
            </a:pPr>
            <a:r>
              <a:t>40% liability reduction via tamper-evident audit ledger defense.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6608" y="1554480"/>
            <a:ext cx="2057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3768" y="1737360"/>
            <a:ext cx="1783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TOTAL NET ANNUAL ROI</a:t>
            </a:r>
          </a:p>
          <a:p>
            <a:pPr>
              <a:spcBef>
                <a:spcPts val="800"/>
              </a:spcBef>
              <a:defRPr sz="2000" b="1">
                <a:solidFill>
                  <a:srgbClr val="10B981"/>
                </a:solidFill>
              </a:defRPr>
            </a:pPr>
            <a:r>
              <a:t>+$3.58M</a:t>
            </a:r>
          </a:p>
          <a:p>
            <a:pPr>
              <a:spcBef>
                <a:spcPts val="800"/>
              </a:spcBef>
              <a:defRPr sz="1000">
                <a:solidFill>
                  <a:srgbClr val="FFFFFF"/>
                </a:solidFill>
              </a:defRPr>
            </a:pPr>
            <a:r>
              <a:t>Gross value $3.82M minus $240k enterprise license (14.9x Net ROI).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ACCENTURE INNOVATION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Compliance, Phased Roadmap &amp; Outro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578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892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REGULATORY &amp; ARCHITECTURE COMPLIANCE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FDA Non-Device CDS (21 U.S.C. § 360aaa-1):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Transparent rationales &amp; trajectories; clinicians maintain 100% final override authority.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Air-Gapped Edge Deployment: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Zero PHI leaves hospital network; sub-15ms inference latency on local server.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Immutable Audit Ledger: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Cryptographically verifiable tamper-evident SQLite WAL logging for all clinical actions.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Test Verification: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51/51 automated pytest tests passed (100% pass rate).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554480"/>
            <a:ext cx="52578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92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PHASED 12-MONTH EXECUTION ROADMAP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Phase 1 (Months 1–3) — Edge Pilot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Deploy contactless camera testbed in 2 triage bays; benchmark sensitivity across 51 test suites.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Phase 2 (Months 4–6) — Shadow Surveillance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Integrate HL7 FHIR stream &amp; 108 EMS pre-arrival telemetry; evaluate concordance alongside Epic/Cerner.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Phase 3 (Months 7–9) — Active Cockpit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Launch Nurse Tasks ('Next 5 Mins') and Standing Pre-Orders with charge nurse feedback.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Phase 4 (Months 10–12) — Enterprise Scaling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Roll out Patient Companion QR portal &amp; Referral Diversion across 3 regional hospital networks.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