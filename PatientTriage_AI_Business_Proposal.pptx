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10698480" cy="731520"/>
          </a:xfrm>
          <a:prstGeom prst="rect">
            <a:avLst/>
          </a:prstGeom>
          <a:noFill/>
        </p:spPr>
        <p:txBody>
          <a:bodyPr wrap="none">
            <a:spAutoFit/>
          </a:bodyPr>
          <a:lstStyle/>
          <a:p>
            <a:pPr>
              <a:defRPr sz="3600" b="1">
                <a:solidFill>
                  <a:srgbClr val="0F172A"/>
                </a:solidFill>
              </a:defRPr>
            </a:pPr>
            <a:r>
              <a:t>Team details</a:t>
            </a:r>
          </a:p>
        </p:txBody>
      </p:sp>
      <p:sp>
        <p:nvSpPr>
          <p:cNvPr id="4" name="Rectangle 3"/>
          <p:cNvSpPr/>
          <p:nvPr/>
        </p:nvSpPr>
        <p:spPr>
          <a:xfrm>
            <a:off x="731520" y="1371600"/>
            <a:ext cx="10728655" cy="411480"/>
          </a:xfrm>
          <a:prstGeom prst="rect">
            <a:avLst/>
          </a:prstGeom>
          <a:solidFill>
            <a:srgbClr val="F3E8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defRPr sz="1300" b="1">
                <a:solidFill>
                  <a:srgbClr val="A800FF"/>
                </a:solidFill>
              </a:defRPr>
            </a:pPr>
            <a:r>
              <a:t> TEAM NAME: Phoenix</a:t>
            </a:r>
          </a:p>
        </p:txBody>
      </p:sp>
      <p:sp>
        <p:nvSpPr>
          <p:cNvPr id="5" name="TextBox 4"/>
          <p:cNvSpPr txBox="1"/>
          <p:nvPr/>
        </p:nvSpPr>
        <p:spPr>
          <a:xfrm>
            <a:off x="2926080" y="2103120"/>
            <a:ext cx="8229600" cy="4114800"/>
          </a:xfrm>
          <a:prstGeom prst="rect">
            <a:avLst/>
          </a:prstGeom>
          <a:noFill/>
        </p:spPr>
        <p:txBody>
          <a:bodyPr wrap="square">
            <a:spAutoFit/>
          </a:bodyPr>
          <a:lstStyle/>
          <a:p>
            <a:pPr>
              <a:defRPr sz="3200" b="1">
                <a:solidFill>
                  <a:srgbClr val="A800FF"/>
                </a:solidFill>
              </a:defRPr>
            </a:pPr>
            <a:r>
              <a:t>Freya Jadhav</a:t>
            </a:r>
          </a:p>
          <a:p>
            <a:pPr>
              <a:defRPr sz="2800" b="1">
                <a:solidFill>
                  <a:srgbClr val="A800FF"/>
                </a:solidFill>
              </a:defRPr>
            </a:pPr>
            <a:r>
              <a:t>(Team Leader)</a:t>
            </a:r>
          </a:p>
          <a:p>
            <a:pPr>
              <a:spcBef>
                <a:spcPts val="1800"/>
              </a:spcBef>
              <a:defRPr sz="1400">
                <a:solidFill>
                  <a:srgbClr val="0F172A"/>
                </a:solidFill>
              </a:defRPr>
            </a:pPr>
            <a:r>
              <a:t>College: IIT Madras</a:t>
            </a:r>
            <a:br/>
            <a:r>
              <a:t>Stream: Data Science and Applications</a:t>
            </a:r>
            <a:br/>
            <a:r>
              <a:t>Year of graduation: 2028</a:t>
            </a:r>
            <a:br/>
            <a:r>
              <a:t>Project: PatientTriage.ai — Active Autonomous ED Safety Control Tower</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94360"/>
            <a:ext cx="10728655" cy="594360"/>
          </a:xfrm>
          <a:prstGeom prst="rect">
            <a:avLst/>
          </a:prstGeom>
          <a:solidFill>
            <a:srgbClr val="A800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000" b="1">
                <a:solidFill>
                  <a:srgbClr val="FFFFFF"/>
                </a:solidFill>
              </a:defRPr>
            </a:pPr>
            <a:r>
              <a:t> Describe the problem statement (200 words)</a:t>
            </a:r>
          </a:p>
        </p:txBody>
      </p:sp>
      <p:sp>
        <p:nvSpPr>
          <p:cNvPr id="4" name="TextBox 3"/>
          <p:cNvSpPr txBox="1"/>
          <p:nvPr/>
        </p:nvSpPr>
        <p:spPr>
          <a:xfrm>
            <a:off x="731520" y="1371600"/>
            <a:ext cx="10728655" cy="5120640"/>
          </a:xfrm>
          <a:prstGeom prst="rect">
            <a:avLst/>
          </a:prstGeom>
          <a:noFill/>
        </p:spPr>
        <p:txBody>
          <a:bodyPr wrap="square">
            <a:spAutoFit/>
          </a:bodyPr>
          <a:lstStyle/>
          <a:p>
            <a:pPr>
              <a:defRPr sz="1500" b="1">
                <a:solidFill>
                  <a:srgbClr val="0F172A"/>
                </a:solidFill>
              </a:defRPr>
            </a:pPr>
            <a:r>
              <a:t>Patient Triage Doesn’t End at Arrival: The Emergency Waiting-Room Blind Spot</a:t>
            </a:r>
          </a:p>
          <a:p>
            <a:pPr>
              <a:spcBef>
                <a:spcPts val="600"/>
              </a:spcBef>
              <a:defRPr sz="1100">
                <a:solidFill>
                  <a:srgbClr val="0F172A"/>
                </a:solidFill>
              </a:defRPr>
            </a:pPr>
            <a:r>
              <a:t>Emergency departments face severe operational strain, where triage is treated as a one-time static snapshot at the front door. However, “Triage is a snapshot. Risk isn't.”</a:t>
            </a:r>
            <a:br/>
            <a:br/>
            <a:r>
              <a:t>Once triaged, ESI Level 3/4 patients wait unmonitored for 2.5 to 4.5 hours. During this gap, physiological decline may remain undetected until sudden clinical collapse. In India (ranking 144th in emergency access) and globally, overcrowded waiting lounges lack continuous surveillance; 79% of staff cite triage bottlenecks, and only 12.14% of registrations capture structured diagnostic data.</a:t>
            </a:r>
            <a:br/>
            <a:br/>
            <a:r>
              <a:t>Native EHR scores (Epic/Cerner) fail because they only monitor admitted inpatient beds and treat missing vitals as benign. When clinical attention is the scarce resource, two distinct decisions must be made:</a:t>
            </a:r>
            <a:br/>
            <a:r>
              <a:t>• Who needs attention first upon arrival?</a:t>
            </a:r>
            <a:br/>
            <a:r>
              <a:t>• Who is no longer safe to keep waiting?</a:t>
            </a:r>
            <a:br/>
            <a:br/>
            <a:r>
              <a:t>Traditional systems ignore this second life-critical question. Without continuous tracking of vital velocity, observation shelf-life (Safety Clocks), and physician coverage, unattended deteriorating patients stay buried—leading to preventable ICU transfers, high walkouts (LWBS), and waiting room mortality.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94360"/>
            <a:ext cx="10728655" cy="594360"/>
          </a:xfrm>
          <a:prstGeom prst="rect">
            <a:avLst/>
          </a:prstGeom>
          <a:solidFill>
            <a:srgbClr val="A800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000" b="1">
                <a:solidFill>
                  <a:srgbClr val="FFFFFF"/>
                </a:solidFill>
              </a:defRPr>
            </a:pPr>
            <a:r>
              <a:t> Proposed solution (200 words)</a:t>
            </a:r>
          </a:p>
        </p:txBody>
      </p:sp>
      <p:sp>
        <p:nvSpPr>
          <p:cNvPr id="4" name="TextBox 3"/>
          <p:cNvSpPr txBox="1"/>
          <p:nvPr/>
        </p:nvSpPr>
        <p:spPr>
          <a:xfrm>
            <a:off x="731520" y="1280160"/>
            <a:ext cx="10728655" cy="2468880"/>
          </a:xfrm>
          <a:prstGeom prst="rect">
            <a:avLst/>
          </a:prstGeom>
          <a:noFill/>
        </p:spPr>
        <p:txBody>
          <a:bodyPr wrap="square">
            <a:spAutoFit/>
          </a:bodyPr>
          <a:lstStyle/>
          <a:p>
            <a:pPr>
              <a:defRPr sz="1300" b="1">
                <a:solidFill>
                  <a:srgbClr val="0F172A"/>
                </a:solidFill>
              </a:defRPr>
            </a:pPr>
            <a:r>
              <a:t>PatientTriage.ai: Active Closed-Loop Emergency Department Safety Control Tower</a:t>
            </a:r>
          </a:p>
          <a:p>
            <a:pPr>
              <a:spcBef>
                <a:spcPts val="300"/>
              </a:spcBef>
              <a:defRPr sz="950">
                <a:solidFill>
                  <a:srgbClr val="0F172A"/>
                </a:solidFill>
              </a:defRPr>
            </a:pPr>
            <a:r>
              <a:t>Closed-Loop System: Detect → Prioritize → Claim ('I'm on it') → Reassess → Escalate &amp; Assign → Acknowledge → Audit</a:t>
            </a:r>
            <a:br/>
            <a:r>
              <a:t>• 1. Closed-Loop Safety &amp; Ownership: “We don't just detect deterioration. We make sure someone owns the response.” Routes high-priority alerts to Trauma/Physician teams with SLA acknowledgement.</a:t>
            </a:r>
            <a:br/>
            <a:r>
              <a:t>• 2. 3-State Ranked Worklist: Groups waiting room into 🔴 ACT NOW (#1, #2 priority queue), 🟡 RECHECK, and 🟢 SAFE TO WAIT—answering 'Who is no longer safe to wait?' in 2 seconds.</a:t>
            </a:r>
            <a:br/>
            <a:r>
              <a:t>• 3. The Attention Gap &amp; 108 EMS Telemetry: Prioritizes unmonitored deteriorating patients over attended beds, while ingesting ambulance telemetry via HL7 FHIR with 1-click bay pre-allocation.</a:t>
            </a:r>
            <a:br/>
            <a:r>
              <a:t>• 4. 4 Clinical Workspaces &amp; 3X Surge: Equips ED staff with Worklist, Census, Command Center (3X Surge for 60 patients), and Standing Pre-Orders Hub (Troponin/ECG auto-drafts saving 18m).</a:t>
            </a:r>
            <a:br/>
            <a:r>
              <a:t>• 5. Proven Financial &amp; Regulatory Impact: $3.82M Net Hospital ROI, 3m 42s Time to Intervention, and FDA Non-Device CDS compliant tamper-evident audit ledger (51/51 automated tests passed).</a:t>
            </a:r>
          </a:p>
        </p:txBody>
      </p:sp>
      <p:graphicFrame>
        <p:nvGraphicFramePr>
          <p:cNvPr id="5" name="Table 4"/>
          <p:cNvGraphicFramePr>
            <a:graphicFrameLocks noGrp="1"/>
          </p:cNvGraphicFramePr>
          <p:nvPr/>
        </p:nvGraphicFramePr>
        <p:xfrm>
          <a:off x="731520" y="3840480"/>
          <a:ext cx="10728655" cy="2651760"/>
        </p:xfrm>
        <a:graphic>
          <a:graphicData uri="http://schemas.openxmlformats.org/drawingml/2006/table">
            <a:tbl>
              <a:tblPr firstRow="1" bandRow="1">
                <a:tableStyleId>{5C22544A-7EE6-4342-B048-85BDC9FD1C3A}</a:tableStyleId>
              </a:tblPr>
              <a:tblGrid>
                <a:gridCol w="5029200"/>
                <a:gridCol w="5699455"/>
              </a:tblGrid>
              <a:tr h="378822">
                <a:tc>
                  <a:txBody>
                    <a:bodyPr/>
                    <a:lstStyle/>
                    <a:p>
                      <a:pPr>
                        <a:defRPr sz="950" b="1">
                          <a:solidFill>
                            <a:srgbClr val="0F172A"/>
                          </a:solidFill>
                        </a:defRPr>
                      </a:pPr>
                      <a:r>
                        <a:t>Traditional Triage Systems</a:t>
                      </a:r>
                    </a:p>
                  </a:txBody>
                  <a:tcPr>
                    <a:solidFill>
                      <a:srgbClr val="99F6E4"/>
                    </a:solidFill>
                  </a:tcPr>
                </a:tc>
                <a:tc>
                  <a:txBody>
                    <a:bodyPr/>
                    <a:lstStyle/>
                    <a:p>
                      <a:pPr>
                        <a:defRPr sz="950" b="1">
                          <a:solidFill>
                            <a:srgbClr val="0F172A"/>
                          </a:solidFill>
                        </a:defRPr>
                      </a:pPr>
                      <a:r>
                        <a:t>PatientTriage.ai Closed-Loop Control Tower</a:t>
                      </a:r>
                    </a:p>
                  </a:txBody>
                  <a:tcPr>
                    <a:solidFill>
                      <a:srgbClr val="99F6E4"/>
                    </a:solidFill>
                  </a:tcPr>
                </a:tc>
              </a:tr>
              <a:tr h="378822">
                <a:tc>
                  <a:txBody>
                    <a:bodyPr/>
                    <a:lstStyle/>
                    <a:p>
                      <a:pPr>
                        <a:defRPr sz="950" b="0">
                          <a:solidFill>
                            <a:srgbClr val="0F172A"/>
                          </a:solidFill>
                        </a:defRPr>
                      </a:pPr>
                      <a:r>
                        <a:t>Static Intake Snapshot (One-time score at door)</a:t>
                      </a:r>
                    </a:p>
                  </a:txBody>
                  <a:tcPr>
                    <a:solidFill>
                      <a:srgbClr val="F0FDFA"/>
                    </a:solidFill>
                  </a:tcPr>
                </a:tc>
                <a:tc>
                  <a:txBody>
                    <a:bodyPr/>
                    <a:lstStyle/>
                    <a:p>
                      <a:pPr>
                        <a:defRPr sz="950" b="0">
                          <a:solidFill>
                            <a:srgbClr val="0F172A"/>
                          </a:solidFill>
                        </a:defRPr>
                      </a:pPr>
                      <a:r>
                        <a:t>Continuous Dynamic Risk (Tracks vital velocity ΔVitals/Δt)</a:t>
                      </a:r>
                    </a:p>
                  </a:txBody>
                  <a:tcPr>
                    <a:solidFill>
                      <a:srgbClr val="F0FDFA"/>
                    </a:solidFill>
                  </a:tcPr>
                </a:tc>
              </a:tr>
              <a:tr h="378822">
                <a:tc>
                  <a:txBody>
                    <a:bodyPr/>
                    <a:lstStyle/>
                    <a:p>
                      <a:pPr>
                        <a:defRPr sz="950" b="0">
                          <a:solidFill>
                            <a:srgbClr val="0F172A"/>
                          </a:solidFill>
                        </a:defRPr>
                      </a:pPr>
                      <a:r>
                        <a:t>Missing Vitals Assumed Safe (False reassurance)</a:t>
                      </a:r>
                    </a:p>
                  </a:txBody>
                  <a:tcPr>
                    <a:solidFill>
                      <a:srgbClr val="F0FDFA"/>
                    </a:solidFill>
                  </a:tcPr>
                </a:tc>
                <a:tc>
                  <a:txBody>
                    <a:bodyPr/>
                    <a:lstStyle/>
                    <a:p>
                      <a:pPr>
                        <a:defRPr sz="950" b="0">
                          <a:solidFill>
                            <a:srgbClr val="0F172A"/>
                          </a:solidFill>
                        </a:defRPr>
                      </a:pPr>
                      <a:r>
                        <a:t>Unknown ≠ Safe (Missing data triggers uncertainty penalty)</a:t>
                      </a:r>
                    </a:p>
                  </a:txBody>
                  <a:tcPr>
                    <a:solidFill>
                      <a:srgbClr val="F0FDFA"/>
                    </a:solidFill>
                  </a:tcPr>
                </a:tc>
              </a:tr>
              <a:tr h="378822">
                <a:tc>
                  <a:txBody>
                    <a:bodyPr/>
                    <a:lstStyle/>
                    <a:p>
                      <a:pPr>
                        <a:defRPr sz="950" b="0">
                          <a:solidFill>
                            <a:srgbClr val="0F172A"/>
                          </a:solidFill>
                        </a:defRPr>
                      </a:pPr>
                      <a:r>
                        <a:t>Alerts End at Detection (No defined human owner)</a:t>
                      </a:r>
                    </a:p>
                  </a:txBody>
                  <a:tcPr>
                    <a:solidFill>
                      <a:srgbClr val="F0FDFA"/>
                    </a:solidFill>
                  </a:tcPr>
                </a:tc>
                <a:tc>
                  <a:txBody>
                    <a:bodyPr/>
                    <a:lstStyle/>
                    <a:p>
                      <a:pPr>
                        <a:defRPr sz="950" b="0">
                          <a:solidFill>
                            <a:srgbClr val="0F172A"/>
                          </a:solidFill>
                        </a:defRPr>
                      </a:pPr>
                      <a:r>
                        <a:t>Closed-Loop Escalation &amp; Ownership (Assigns Trauma Team with SLA)</a:t>
                      </a:r>
                    </a:p>
                  </a:txBody>
                  <a:tcPr>
                    <a:solidFill>
                      <a:srgbClr val="F0FDFA"/>
                    </a:solidFill>
                  </a:tcPr>
                </a:tc>
              </a:tr>
              <a:tr h="378822">
                <a:tc>
                  <a:txBody>
                    <a:bodyPr/>
                    <a:lstStyle/>
                    <a:p>
                      <a:pPr>
                        <a:defRPr sz="950" b="0">
                          <a:solidFill>
                            <a:srgbClr val="0F172A"/>
                          </a:solidFill>
                        </a:defRPr>
                      </a:pPr>
                      <a:r>
                        <a:t>No Pre-Hospital Awareness (Delayed bay allocation)</a:t>
                      </a:r>
                    </a:p>
                  </a:txBody>
                  <a:tcPr>
                    <a:solidFill>
                      <a:srgbClr val="F0FDFA"/>
                    </a:solidFill>
                  </a:tcPr>
                </a:tc>
                <a:tc>
                  <a:txBody>
                    <a:bodyPr/>
                    <a:lstStyle/>
                    <a:p>
                      <a:pPr>
                        <a:defRPr sz="950" b="0">
                          <a:solidFill>
                            <a:srgbClr val="0F172A"/>
                          </a:solidFill>
                        </a:defRPr>
                      </a:pPr>
                      <a:r>
                        <a:t>108 EMS Telemetry Ingestion (1-click pre-allocated resus bays)</a:t>
                      </a:r>
                    </a:p>
                  </a:txBody>
                  <a:tcPr>
                    <a:solidFill>
                      <a:srgbClr val="F0FDFA"/>
                    </a:solidFill>
                  </a:tcPr>
                </a:tc>
              </a:tr>
              <a:tr h="378822">
                <a:tc>
                  <a:txBody>
                    <a:bodyPr/>
                    <a:lstStyle/>
                    <a:p>
                      <a:pPr>
                        <a:defRPr sz="950" b="0">
                          <a:solidFill>
                            <a:srgbClr val="0F172A"/>
                          </a:solidFill>
                        </a:defRPr>
                      </a:pPr>
                      <a:r>
                        <a:t>Unstructured Workflow (Overwhelms nurses with alarms)</a:t>
                      </a:r>
                    </a:p>
                  </a:txBody>
                  <a:tcPr>
                    <a:solidFill>
                      <a:srgbClr val="F0FDFA"/>
                    </a:solidFill>
                  </a:tcPr>
                </a:tc>
                <a:tc>
                  <a:txBody>
                    <a:bodyPr/>
                    <a:lstStyle/>
                    <a:p>
                      <a:pPr>
                        <a:defRPr sz="950" b="0">
                          <a:solidFill>
                            <a:srgbClr val="0F172A"/>
                          </a:solidFill>
                        </a:defRPr>
                      </a:pPr>
                      <a:r>
                        <a:t>3-State Ranked Worklist ('I'm on it' alert claiming)</a:t>
                      </a:r>
                    </a:p>
                  </a:txBody>
                  <a:tcPr>
                    <a:solidFill>
                      <a:srgbClr val="F0FDFA"/>
                    </a:solidFill>
                  </a:tcPr>
                </a:tc>
              </a:tr>
              <a:tr h="378828">
                <a:tc>
                  <a:txBody>
                    <a:bodyPr/>
                    <a:lstStyle/>
                    <a:p>
                      <a:pPr>
                        <a:defRPr sz="950" b="0">
                          <a:solidFill>
                            <a:srgbClr val="0F172A"/>
                          </a:solidFill>
                        </a:defRPr>
                      </a:pPr>
                      <a:r>
                        <a:t>High Walkout Rates (4.8% unmonitored LWBS)</a:t>
                      </a:r>
                    </a:p>
                  </a:txBody>
                  <a:tcPr>
                    <a:solidFill>
                      <a:srgbClr val="F0FDFA"/>
                    </a:solidFill>
                  </a:tcPr>
                </a:tc>
                <a:tc>
                  <a:txBody>
                    <a:bodyPr/>
                    <a:lstStyle/>
                    <a:p>
                      <a:pPr>
                        <a:defRPr sz="950" b="0">
                          <a:solidFill>
                            <a:srgbClr val="0F172A"/>
                          </a:solidFill>
                        </a:defRPr>
                      </a:pPr>
                      <a:r>
                        <a:t>Patient QR Companion + RES Diversion ($3.82M net hospital ROI)</a:t>
                      </a:r>
                    </a:p>
                  </a:txBody>
                  <a:tcPr>
                    <a:solidFill>
                      <a:srgbClr val="F0FDFA"/>
                    </a:solidFill>
                  </a:tcPr>
                </a:tc>
              </a:tr>
            </a:tbl>
          </a:graphicData>
        </a:graphic>
      </p:graphicFrame>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731520" y="594360"/>
            <a:ext cx="10728655" cy="594360"/>
          </a:xfrm>
          <a:prstGeom prst="rect">
            <a:avLst/>
          </a:prstGeom>
          <a:solidFill>
            <a:srgbClr val="A800FF"/>
          </a:solidFill>
          <a:ln>
            <a:noFill/>
          </a:ln>
        </p:spPr>
        <p:style>
          <a:lnRef idx="1">
            <a:schemeClr val="accent1"/>
          </a:lnRef>
          <a:fillRef idx="3">
            <a:schemeClr val="accent1"/>
          </a:fillRef>
          <a:effectRef idx="2">
            <a:schemeClr val="accent1"/>
          </a:effectRef>
          <a:fontRef idx="minor">
            <a:schemeClr val="lt1"/>
          </a:fontRef>
        </p:style>
        <p:txBody>
          <a:bodyPr rtlCol="0" anchor="ctr" wrap="square"/>
          <a:lstStyle/>
          <a:p>
            <a:pPr algn="l">
              <a:defRPr sz="2000" b="1">
                <a:solidFill>
                  <a:srgbClr val="FFFFFF"/>
                </a:solidFill>
              </a:defRPr>
            </a:pPr>
            <a:r>
              <a:t> Video</a:t>
            </a:r>
          </a:p>
        </p:txBody>
      </p:sp>
      <p:sp>
        <p:nvSpPr>
          <p:cNvPr id="4" name="TextBox 3"/>
          <p:cNvSpPr txBox="1"/>
          <p:nvPr/>
        </p:nvSpPr>
        <p:spPr>
          <a:xfrm>
            <a:off x="731520" y="2011680"/>
            <a:ext cx="10728655" cy="3200400"/>
          </a:xfrm>
          <a:prstGeom prst="rect">
            <a:avLst/>
          </a:prstGeom>
          <a:noFill/>
        </p:spPr>
        <p:txBody>
          <a:bodyPr wrap="square">
            <a:spAutoFit/>
          </a:bodyPr>
          <a:lstStyle/>
          <a:p>
            <a:pPr>
              <a:defRPr sz="1600" b="1" u="sng">
                <a:solidFill>
                  <a:srgbClr val="2563EB"/>
                </a:solidFill>
              </a:defRPr>
            </a:pPr>
            <a:r>
              <a:t>https://drive.google.com/drive/folders/1qeAV4E03yaVNREZVVUIRtUZ2KoMC7Ptg?usp=sharing</a:t>
            </a:r>
          </a:p>
          <a:p>
            <a:br/>
            <a:pPr>
              <a:spcBef>
                <a:spcPts val="1200"/>
              </a:spcBef>
              <a:defRPr sz="1200">
                <a:solidFill>
                  <a:srgbClr val="64748B"/>
                </a:solidFill>
              </a:defRPr>
            </a:pPr>
            <a:r>
              <a:t>GitHub Repository: https://github.com/freya1705/PatientTriageAI</a:t>
            </a:r>
            <a:br/>
            <a:r>
              <a:t>• Live Control Tower Prototype: http://localhost:5173</a:t>
            </a:r>
            <a:br/>
            <a:r>
              <a:t>• Closed-Loop Demo: Detect → Prioritize (#1) → Claim ('I'm on it') → Reassess (3m 42s) → Escalate (Trauma Team) → Audit</a:t>
            </a:r>
            <a:br/>
            <a:r>
              <a:t>• Verification: 51/51 automated pytest tests passed (100% pass rate)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