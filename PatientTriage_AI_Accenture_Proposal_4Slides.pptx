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731520"/>
          </a:xfrm>
          <a:prstGeom prst="rect">
            <a:avLst/>
          </a:prstGeom>
          <a:noFill/>
        </p:spPr>
        <p:txBody>
          <a:bodyPr wrap="none">
            <a:spAutoFit/>
          </a:bodyPr>
          <a:lstStyle/>
          <a:p>
            <a:pPr>
              <a:defRPr sz="3600" b="1">
                <a:solidFill>
                  <a:srgbClr val="0F172A"/>
                </a:solidFill>
              </a:defRPr>
            </a:pPr>
            <a:r>
              <a:t>Team details</a:t>
            </a:r>
          </a:p>
        </p:txBody>
      </p:sp>
      <p:sp>
        <p:nvSpPr>
          <p:cNvPr id="4" name="Rectangle 3"/>
          <p:cNvSpPr/>
          <p:nvPr/>
        </p:nvSpPr>
        <p:spPr>
          <a:xfrm>
            <a:off x="731520" y="1371600"/>
            <a:ext cx="10728655" cy="411480"/>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A800FF"/>
                </a:solidFill>
              </a:defRPr>
            </a:pPr>
            <a:r>
              <a:t> TEAM NAME: Phoenix</a:t>
            </a:r>
          </a:p>
        </p:txBody>
      </p:sp>
      <p:sp>
        <p:nvSpPr>
          <p:cNvPr id="5" name="TextBox 4"/>
          <p:cNvSpPr txBox="1"/>
          <p:nvPr/>
        </p:nvSpPr>
        <p:spPr>
          <a:xfrm>
            <a:off x="2926080" y="2103120"/>
            <a:ext cx="8229600" cy="4114800"/>
          </a:xfrm>
          <a:prstGeom prst="rect">
            <a:avLst/>
          </a:prstGeom>
          <a:noFill/>
        </p:spPr>
        <p:txBody>
          <a:bodyPr wrap="square">
            <a:spAutoFit/>
          </a:bodyPr>
          <a:lstStyle/>
          <a:p>
            <a:pPr>
              <a:defRPr sz="3200" b="1">
                <a:solidFill>
                  <a:srgbClr val="A800FF"/>
                </a:solidFill>
              </a:defRPr>
            </a:pPr>
            <a:r>
              <a:t>Freya Jadhav</a:t>
            </a:r>
          </a:p>
          <a:p>
            <a:pPr>
              <a:defRPr sz="2800" b="1">
                <a:solidFill>
                  <a:srgbClr val="A800FF"/>
                </a:solidFill>
              </a:defRPr>
            </a:pPr>
            <a:r>
              <a:t>(Team Leader)</a:t>
            </a:r>
          </a:p>
          <a:p>
            <a:pPr>
              <a:spcBef>
                <a:spcPts val="1800"/>
              </a:spcBef>
              <a:defRPr sz="1400">
                <a:solidFill>
                  <a:srgbClr val="0F172A"/>
                </a:solidFill>
              </a:defRPr>
            </a:pPr>
            <a:r>
              <a:t>College: IIT Madras</a:t>
            </a:r>
            <a:br/>
            <a:r>
              <a:t>Stream: Data Science and Applications</a:t>
            </a:r>
            <a:br/>
            <a:r>
              <a:t>Year of graduation: 2028</a:t>
            </a:r>
            <a:br/>
            <a:r>
              <a:t>Project: PatientTriage.ai — Active Autonomous ED Safety Control Tower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Describe the problem statement (200 words)</a:t>
            </a:r>
          </a:p>
        </p:txBody>
      </p:sp>
      <p:sp>
        <p:nvSpPr>
          <p:cNvPr id="4" name="TextBox 3"/>
          <p:cNvSpPr txBox="1"/>
          <p:nvPr/>
        </p:nvSpPr>
        <p:spPr>
          <a:xfrm>
            <a:off x="731520" y="1371600"/>
            <a:ext cx="10728655" cy="5120640"/>
          </a:xfrm>
          <a:prstGeom prst="rect">
            <a:avLst/>
          </a:prstGeom>
          <a:noFill/>
        </p:spPr>
        <p:txBody>
          <a:bodyPr wrap="square">
            <a:spAutoFit/>
          </a:bodyPr>
          <a:lstStyle/>
          <a:p>
            <a:pPr>
              <a:defRPr sz="1500" b="1">
                <a:solidFill>
                  <a:srgbClr val="0F172A"/>
                </a:solidFill>
              </a:defRPr>
            </a:pPr>
            <a:r>
              <a:t>Patient Triage Doesn’t End at Arrival: The Emergency Waiting-Room Blind Spot</a:t>
            </a:r>
          </a:p>
          <a:p>
            <a:pPr>
              <a:spcBef>
                <a:spcPts val="600"/>
              </a:spcBef>
              <a:defRPr sz="1100">
                <a:solidFill>
                  <a:srgbClr val="0F172A"/>
                </a:solidFill>
              </a:defRPr>
            </a:pPr>
            <a:r>
              <a:t>Emergency departments face severe operational strain, where triage is treated as a one-time static snapshot at the front door. However, “Triage is a snapshot. Risk isn't.”</a:t>
            </a:r>
            <a:br/>
            <a:br/>
            <a:r>
              <a:t>Once triaged, ESI Level 3/4 patients wait unmonitored for 2.5 to 4.5 hours. During this gap, physiological decline may remain undetected until sudden clinical collapse. In India (ranking 144th in emergency access) and globally, overcrowded waiting lounges lack continuous surveillance; 79% of staff cite triage bottlenecks, and only 12.14% of registrations capture structured diagnostic data.</a:t>
            </a:r>
            <a:br/>
            <a:br/>
            <a:r>
              <a:t>Native EHR scores (Epic/Cerner) fail because they only monitor admitted inpatient beds and treat missing vitals as benign. When clinical attention is the scarce resource, two distinct decisions must be made:</a:t>
            </a:r>
            <a:br/>
            <a:r>
              <a:t>• Who needs attention first upon arrival?</a:t>
            </a:r>
            <a:br/>
            <a:r>
              <a:t>• Who is no longer safe to keep waiting?</a:t>
            </a:r>
            <a:br/>
            <a:br/>
            <a:r>
              <a:t>Traditional systems ignore this second life-critical question. Without continuous tracking of vital velocity, observation shelf-life (Safety Clocks), and physician coverage, unattended deteriorating patients stay buried—leading to preventable ICU transfers, high walkouts (LWBS), and waiting room mortality.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Proposed solution (200 words)</a:t>
            </a:r>
          </a:p>
        </p:txBody>
      </p:sp>
      <p:sp>
        <p:nvSpPr>
          <p:cNvPr id="4" name="TextBox 3"/>
          <p:cNvSpPr txBox="1"/>
          <p:nvPr/>
        </p:nvSpPr>
        <p:spPr>
          <a:xfrm>
            <a:off x="731520" y="1280160"/>
            <a:ext cx="10728655" cy="2468880"/>
          </a:xfrm>
          <a:prstGeom prst="rect">
            <a:avLst/>
          </a:prstGeom>
          <a:noFill/>
        </p:spPr>
        <p:txBody>
          <a:bodyPr wrap="square">
            <a:spAutoFit/>
          </a:bodyPr>
          <a:lstStyle/>
          <a:p>
            <a:pPr>
              <a:defRPr sz="1300" b="1">
                <a:solidFill>
                  <a:srgbClr val="0F172A"/>
                </a:solidFill>
              </a:defRPr>
            </a:pPr>
            <a:r>
              <a:t>PatientTriage.ai: Active Autonomous Emergency Department Safety Control Tower</a:t>
            </a:r>
          </a:p>
          <a:p>
            <a:pPr>
              <a:spcBef>
                <a:spcPts val="300"/>
              </a:spcBef>
              <a:defRPr sz="950">
                <a:solidFill>
                  <a:srgbClr val="0F172A"/>
                </a:solidFill>
              </a:defRPr>
            </a:pPr>
            <a:r>
              <a:t>Core Loop: Ingest Telemetry → Forecast Trajectory → Allocate Attention → Reassess (Closed-Loop)</a:t>
            </a:r>
            <a:br/>
            <a:r>
              <a:t>• 1. Continuous Surveillance &amp; 108 EMS Telemetry: Tracks vital velocity (ΔSpO₂, ΔHR) and ingests pre-hospital ambulance telemetry via HL7 FHIR LOINC codes with 1-click Resus Bay pre-allocation.</a:t>
            </a:r>
            <a:br/>
            <a:r>
              <a:t>• 2. The Attention Gap &amp; Attendant-Away Engine: Prioritizes unattended deteriorating patients over attended beds. Detects when a caregiver steps away, auto-injecting nurse spot-check tasks.</a:t>
            </a:r>
            <a:br/>
            <a:r>
              <a:t>• 3. 4 Clinical Workspaces: Provides Overview (Control Tower), Nurse Tasks ('Next 5 Mins'), ED Floor Map (chairs 1–20 halos), and Standing Lab Pre-Orders Hub (Troponin/Lactate auto-drafts saving 18m).</a:t>
            </a:r>
            <a:br/>
            <a:r>
              <a:t>• 4. Referral Scoring &amp; Patient Companion: Evaluates 0–100% diversion (RES) to relieve tertiary ED crowding, while mobile QR trackers de-escalate anxiety to recover $1.12M in walkout revenue.</a:t>
            </a:r>
            <a:br/>
            <a:r>
              <a:t>• 5. Closed-Loop Reassessment: 1-click bedside vitals entry logs a 3m 42s Time to Intervention into an immutable audit ledger ($3.82M Net Hospital ROI; FDA Non-Device CDS compliant).</a:t>
            </a:r>
          </a:p>
        </p:txBody>
      </p:sp>
      <p:graphicFrame>
        <p:nvGraphicFramePr>
          <p:cNvPr id="5" name="Table 4"/>
          <p:cNvGraphicFramePr>
            <a:graphicFrameLocks noGrp="1"/>
          </p:cNvGraphicFramePr>
          <p:nvPr/>
        </p:nvGraphicFramePr>
        <p:xfrm>
          <a:off x="731520" y="3840480"/>
          <a:ext cx="10728655" cy="2651760"/>
        </p:xfrm>
        <a:graphic>
          <a:graphicData uri="http://schemas.openxmlformats.org/drawingml/2006/table">
            <a:tbl>
              <a:tblPr firstRow="1" bandRow="1">
                <a:tableStyleId>{5C22544A-7EE6-4342-B048-85BDC9FD1C3A}</a:tableStyleId>
              </a:tblPr>
              <a:tblGrid>
                <a:gridCol w="5029200"/>
                <a:gridCol w="5699455"/>
              </a:tblGrid>
              <a:tr h="378822">
                <a:tc>
                  <a:txBody>
                    <a:bodyPr/>
                    <a:lstStyle/>
                    <a:p>
                      <a:pPr>
                        <a:defRPr sz="950" b="1">
                          <a:solidFill>
                            <a:srgbClr val="0F172A"/>
                          </a:solidFill>
                        </a:defRPr>
                      </a:pPr>
                      <a:r>
                        <a:t>Traditional Triage Systems</a:t>
                      </a:r>
                    </a:p>
                  </a:txBody>
                  <a:tcPr>
                    <a:solidFill>
                      <a:srgbClr val="99F6E4"/>
                    </a:solidFill>
                  </a:tcPr>
                </a:tc>
                <a:tc>
                  <a:txBody>
                    <a:bodyPr/>
                    <a:lstStyle/>
                    <a:p>
                      <a:pPr>
                        <a:defRPr sz="950" b="1">
                          <a:solidFill>
                            <a:srgbClr val="0F172A"/>
                          </a:solidFill>
                        </a:defRPr>
                      </a:pPr>
                      <a:r>
                        <a:t>PatientTriage.ai Autonomous Control Tower</a:t>
                      </a:r>
                    </a:p>
                  </a:txBody>
                  <a:tcPr>
                    <a:solidFill>
                      <a:srgbClr val="99F6E4"/>
                    </a:solidFill>
                  </a:tcPr>
                </a:tc>
              </a:tr>
              <a:tr h="378822">
                <a:tc>
                  <a:txBody>
                    <a:bodyPr/>
                    <a:lstStyle/>
                    <a:p>
                      <a:pPr>
                        <a:defRPr sz="950" b="0">
                          <a:solidFill>
                            <a:srgbClr val="0F172A"/>
                          </a:solidFill>
                        </a:defRPr>
                      </a:pPr>
                      <a:r>
                        <a:t>Static Intake Snapshot (One-time score at door)</a:t>
                      </a:r>
                    </a:p>
                  </a:txBody>
                  <a:tcPr>
                    <a:solidFill>
                      <a:srgbClr val="F0FDFA"/>
                    </a:solidFill>
                  </a:tcPr>
                </a:tc>
                <a:tc>
                  <a:txBody>
                    <a:bodyPr/>
                    <a:lstStyle/>
                    <a:p>
                      <a:pPr>
                        <a:defRPr sz="950" b="0">
                          <a:solidFill>
                            <a:srgbClr val="0F172A"/>
                          </a:solidFill>
                        </a:defRPr>
                      </a:pPr>
                      <a:r>
                        <a:t>Continuous Dynamic Risk (Tracks vital velocity ΔVitals/Δt)</a:t>
                      </a:r>
                    </a:p>
                  </a:txBody>
                  <a:tcPr>
                    <a:solidFill>
                      <a:srgbClr val="F0FDFA"/>
                    </a:solidFill>
                  </a:tcPr>
                </a:tc>
              </a:tr>
              <a:tr h="378822">
                <a:tc>
                  <a:txBody>
                    <a:bodyPr/>
                    <a:lstStyle/>
                    <a:p>
                      <a:pPr>
                        <a:defRPr sz="950" b="0">
                          <a:solidFill>
                            <a:srgbClr val="0F172A"/>
                          </a:solidFill>
                        </a:defRPr>
                      </a:pPr>
                      <a:r>
                        <a:t>Missing Vitals Assumed Safe (False reassurance)</a:t>
                      </a:r>
                    </a:p>
                  </a:txBody>
                  <a:tcPr>
                    <a:solidFill>
                      <a:srgbClr val="F0FDFA"/>
                    </a:solidFill>
                  </a:tcPr>
                </a:tc>
                <a:tc>
                  <a:txBody>
                    <a:bodyPr/>
                    <a:lstStyle/>
                    <a:p>
                      <a:pPr>
                        <a:defRPr sz="950" b="0">
                          <a:solidFill>
                            <a:srgbClr val="0F172A"/>
                          </a:solidFill>
                        </a:defRPr>
                      </a:pPr>
                      <a:r>
                        <a:t>Unknown ≠ Safe (Missing data triggers uncertainty penalty)</a:t>
                      </a:r>
                    </a:p>
                  </a:txBody>
                  <a:tcPr>
                    <a:solidFill>
                      <a:srgbClr val="F0FDFA"/>
                    </a:solidFill>
                  </a:tcPr>
                </a:tc>
              </a:tr>
              <a:tr h="378822">
                <a:tc>
                  <a:txBody>
                    <a:bodyPr/>
                    <a:lstStyle/>
                    <a:p>
                      <a:pPr>
                        <a:defRPr sz="950" b="0">
                          <a:solidFill>
                            <a:srgbClr val="0F172A"/>
                          </a:solidFill>
                        </a:defRPr>
                      </a:pPr>
                      <a:r>
                        <a:t>Attended Cases Block Queue (Physician bottlenecks)</a:t>
                      </a:r>
                    </a:p>
                  </a:txBody>
                  <a:tcPr>
                    <a:solidFill>
                      <a:srgbClr val="F0FDFA"/>
                    </a:solidFill>
                  </a:tcPr>
                </a:tc>
                <a:tc>
                  <a:txBody>
                    <a:bodyPr/>
                    <a:lstStyle/>
                    <a:p>
                      <a:pPr>
                        <a:defRPr sz="950" b="0">
                          <a:solidFill>
                            <a:srgbClr val="0F172A"/>
                          </a:solidFill>
                        </a:defRPr>
                      </a:pPr>
                      <a:r>
                        <a:t>Attention Gap Optimization (Elevates unmonitored waiting patients)</a:t>
                      </a:r>
                    </a:p>
                  </a:txBody>
                  <a:tcPr>
                    <a:solidFill>
                      <a:srgbClr val="F0FDFA"/>
                    </a:solidFill>
                  </a:tcPr>
                </a:tc>
              </a:tr>
              <a:tr h="378822">
                <a:tc>
                  <a:txBody>
                    <a:bodyPr/>
                    <a:lstStyle/>
                    <a:p>
                      <a:pPr>
                        <a:defRPr sz="950" b="0">
                          <a:solidFill>
                            <a:srgbClr val="0F172A"/>
                          </a:solidFill>
                        </a:defRPr>
                      </a:pPr>
                      <a:r>
                        <a:t>No Pre-Hospital Awareness (Delayed bay allocation)</a:t>
                      </a:r>
                    </a:p>
                  </a:txBody>
                  <a:tcPr>
                    <a:solidFill>
                      <a:srgbClr val="F0FDFA"/>
                    </a:solidFill>
                  </a:tcPr>
                </a:tc>
                <a:tc>
                  <a:txBody>
                    <a:bodyPr/>
                    <a:lstStyle/>
                    <a:p>
                      <a:pPr>
                        <a:defRPr sz="950" b="0">
                          <a:solidFill>
                            <a:srgbClr val="0F172A"/>
                          </a:solidFill>
                        </a:defRPr>
                      </a:pPr>
                      <a:r>
                        <a:t>108 EMS Telemetry Ingestion (1-click pre-allocated resus bays)</a:t>
                      </a:r>
                    </a:p>
                  </a:txBody>
                  <a:tcPr>
                    <a:solidFill>
                      <a:srgbClr val="F0FDFA"/>
                    </a:solidFill>
                  </a:tcPr>
                </a:tc>
              </a:tr>
              <a:tr h="378822">
                <a:tc>
                  <a:txBody>
                    <a:bodyPr/>
                    <a:lstStyle/>
                    <a:p>
                      <a:pPr>
                        <a:defRPr sz="950" b="0">
                          <a:solidFill>
                            <a:srgbClr val="0F172A"/>
                          </a:solidFill>
                        </a:defRPr>
                      </a:pPr>
                      <a:r>
                        <a:t>Overwhelms Nurses with Alarms (Alarm fatigue)</a:t>
                      </a:r>
                    </a:p>
                  </a:txBody>
                  <a:tcPr>
                    <a:solidFill>
                      <a:srgbClr val="F0FDFA"/>
                    </a:solidFill>
                  </a:tcPr>
                </a:tc>
                <a:tc>
                  <a:txBody>
                    <a:bodyPr/>
                    <a:lstStyle/>
                    <a:p>
                      <a:pPr>
                        <a:defRPr sz="950" b="0">
                          <a:solidFill>
                            <a:srgbClr val="0F172A"/>
                          </a:solidFill>
                        </a:defRPr>
                      </a:pPr>
                      <a:r>
                        <a:t>4 Focused Workspaces &amp; 'Next 5 Mins' (Time-budgeted micro-tasks)</a:t>
                      </a:r>
                    </a:p>
                  </a:txBody>
                  <a:tcPr>
                    <a:solidFill>
                      <a:srgbClr val="F0FDFA"/>
                    </a:solidFill>
                  </a:tcPr>
                </a:tc>
              </a:tr>
              <a:tr h="378828">
                <a:tc>
                  <a:txBody>
                    <a:bodyPr/>
                    <a:lstStyle/>
                    <a:p>
                      <a:pPr>
                        <a:defRPr sz="950" b="0">
                          <a:solidFill>
                            <a:srgbClr val="0F172A"/>
                          </a:solidFill>
                        </a:defRPr>
                      </a:pPr>
                      <a:r>
                        <a:t>High Walkout Rates (4.8% unmonitored LWBS)</a:t>
                      </a:r>
                    </a:p>
                  </a:txBody>
                  <a:tcPr>
                    <a:solidFill>
                      <a:srgbClr val="F0FDFA"/>
                    </a:solidFill>
                  </a:tcPr>
                </a:tc>
                <a:tc>
                  <a:txBody>
                    <a:bodyPr/>
                    <a:lstStyle/>
                    <a:p>
                      <a:pPr>
                        <a:defRPr sz="950" b="0">
                          <a:solidFill>
                            <a:srgbClr val="0F172A"/>
                          </a:solidFill>
                        </a:defRPr>
                      </a:pPr>
                      <a:r>
                        <a:t>Patient QR Companion + RES Diversion ($3.82M net hospital ROI)</a:t>
                      </a:r>
                    </a:p>
                  </a:txBody>
                  <a:tcPr>
                    <a:solidFill>
                      <a:srgbClr val="F0FD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Video</a:t>
            </a:r>
          </a:p>
        </p:txBody>
      </p:sp>
      <p:sp>
        <p:nvSpPr>
          <p:cNvPr id="4" name="TextBox 3"/>
          <p:cNvSpPr txBox="1"/>
          <p:nvPr/>
        </p:nvSpPr>
        <p:spPr>
          <a:xfrm>
            <a:off x="731520" y="2011680"/>
            <a:ext cx="10728655" cy="3200400"/>
          </a:xfrm>
          <a:prstGeom prst="rect">
            <a:avLst/>
          </a:prstGeom>
          <a:noFill/>
        </p:spPr>
        <p:txBody>
          <a:bodyPr wrap="square">
            <a:spAutoFit/>
          </a:bodyPr>
          <a:lstStyle/>
          <a:p>
            <a:pPr>
              <a:defRPr sz="1600" b="1" u="sng">
                <a:solidFill>
                  <a:srgbClr val="2563EB"/>
                </a:solidFill>
              </a:defRPr>
            </a:pPr>
            <a:r>
              <a:t>https://drive.google.com/drive/folders/1qeAV4E03yaVNREZVVUIRtUZ2KoMC7Ptg?usp=sharing</a:t>
            </a:r>
          </a:p>
          <a:p>
            <a:br/>
            <a:pPr>
              <a:spcBef>
                <a:spcPts val="1200"/>
              </a:spcBef>
              <a:defRPr sz="1200">
                <a:solidFill>
                  <a:srgbClr val="64748B"/>
                </a:solidFill>
              </a:defRPr>
            </a:pPr>
            <a:r>
              <a:t>GitHub Repository: https://github.com/freya1705/PatientTriageAI</a:t>
            </a:r>
            <a:br/>
            <a:r>
              <a:t>• Live Control Tower Prototype: http://localhost:5173</a:t>
            </a:r>
            <a:br/>
            <a:r>
              <a:t>• Demonstration Focus: 108 EMS Telemetry, Attention Gap Re-ranking, Floor Map, and Closed-Loop Reassessment (3m 42s Time to Intervention)</a:t>
            </a:r>
            <a:br/>
            <a:r>
              <a:t>• Verification: 51/51 automated pytest tests passed (100%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